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K Grotesk Bold" charset="1" panose="00000800000000000000"/>
      <p:regular r:id="rId16"/>
    </p:embeddedFont>
    <p:embeddedFont>
      <p:font typeface="HK Grotesk Semi-Bold" charset="1" panose="00000700000000000000"/>
      <p:regular r:id="rId17"/>
    </p:embeddedFont>
    <p:embeddedFont>
      <p:font typeface="HK Grotesk" charset="1" panose="00000500000000000000"/>
      <p:regular r:id="rId18"/>
    </p:embeddedFont>
    <p:embeddedFont>
      <p:font typeface="HK Grotesk Medium" charset="1" panose="000006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14" Target="../media/image24.png" Type="http://schemas.openxmlformats.org/officeDocument/2006/relationships/image"/><Relationship Id="rId15" Target="../media/image25.png" Type="http://schemas.openxmlformats.org/officeDocument/2006/relationships/image"/><Relationship Id="rId16" Target="../media/image26.png" Type="http://schemas.openxmlformats.org/officeDocument/2006/relationships/image"/><Relationship Id="rId17" Target="../media/image27.png" Type="http://schemas.openxmlformats.org/officeDocument/2006/relationships/image"/><Relationship Id="rId18" Target="../media/image28.png" Type="http://schemas.openxmlformats.org/officeDocument/2006/relationships/image"/><Relationship Id="rId19" Target="../media/image29.png" Type="http://schemas.openxmlformats.org/officeDocument/2006/relationships/image"/><Relationship Id="rId2" Target="../media/image12.png" Type="http://schemas.openxmlformats.org/officeDocument/2006/relationships/image"/><Relationship Id="rId20" Target="../media/image30.png" Type="http://schemas.openxmlformats.org/officeDocument/2006/relationships/image"/><Relationship Id="rId21" Target="../media/image31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png" Type="http://schemas.openxmlformats.org/officeDocument/2006/relationships/image"/><Relationship Id="rId12" Target="../media/image42.png" Type="http://schemas.openxmlformats.org/officeDocument/2006/relationships/image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12" Target="../media/image59.png" Type="http://schemas.openxmlformats.org/officeDocument/2006/relationships/image"/><Relationship Id="rId13" Target="../media/image60.png" Type="http://schemas.openxmlformats.org/officeDocument/2006/relationships/image"/><Relationship Id="rId14" Target="../media/image61.png" Type="http://schemas.openxmlformats.org/officeDocument/2006/relationships/image"/><Relationship Id="rId15" Target="../media/image62.png" Type="http://schemas.openxmlformats.org/officeDocument/2006/relationships/image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Relationship Id="rId3" Target="../media/image64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67.png" Type="http://schemas.openxmlformats.org/officeDocument/2006/relationships/image"/><Relationship Id="rId7" Target="../media/image6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Relationship Id="rId3" Target="../media/image70.png" Type="http://schemas.openxmlformats.org/officeDocument/2006/relationships/image"/><Relationship Id="rId4" Target="../media/image71.png" Type="http://schemas.openxmlformats.org/officeDocument/2006/relationships/image"/><Relationship Id="rId5" Target="../media/image72.png" Type="http://schemas.openxmlformats.org/officeDocument/2006/relationships/image"/><Relationship Id="rId6" Target="../media/image73.png" Type="http://schemas.openxmlformats.org/officeDocument/2006/relationships/image"/><Relationship Id="rId7" Target="../media/image74.png" Type="http://schemas.openxmlformats.org/officeDocument/2006/relationships/image"/><Relationship Id="rId8" Target="../media/image7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Relationship Id="rId3" Target="../media/image7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8.png" Type="http://schemas.openxmlformats.org/officeDocument/2006/relationships/image"/><Relationship Id="rId3" Target="../media/image79.png" Type="http://schemas.openxmlformats.org/officeDocument/2006/relationships/image"/><Relationship Id="rId4" Target="../media/image8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5028" y="1332809"/>
            <a:ext cx="9506553" cy="1451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30"/>
              </a:lnSpc>
            </a:pPr>
            <a:r>
              <a:rPr lang="en-US" sz="10930" spc="-218" b="true">
                <a:solidFill>
                  <a:srgbClr val="FFFFFF">
                    <a:alpha val="9372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Resume </a:t>
            </a:r>
            <a:r>
              <a:rPr lang="en-US" sz="10930" spc="-218" b="true">
                <a:solidFill>
                  <a:srgbClr val="FA90B4">
                    <a:alpha val="93725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Lens: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3643" y="2761812"/>
            <a:ext cx="9002870" cy="170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0"/>
              </a:lnSpc>
            </a:pPr>
            <a:r>
              <a:rPr lang="en-US" sz="5277" spc="-51" b="true">
                <a:solidFill>
                  <a:srgbClr val="FFFFFF">
                    <a:alpha val="93725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Formal Language-Based Resume Screening System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4919394"/>
            <a:ext cx="1542230" cy="229572"/>
          </a:xfrm>
          <a:custGeom>
            <a:avLst/>
            <a:gdLst/>
            <a:ahLst/>
            <a:cxnLst/>
            <a:rect r="r" b="b" t="t" l="l"/>
            <a:pathLst>
              <a:path h="229572" w="1542230">
                <a:moveTo>
                  <a:pt x="0" y="0"/>
                </a:moveTo>
                <a:lnTo>
                  <a:pt x="1542230" y="0"/>
                </a:lnTo>
                <a:lnTo>
                  <a:pt x="154223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3531" y="5452261"/>
            <a:ext cx="8014076" cy="90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707">
                <a:solidFill>
                  <a:srgbClr val="FFFFFF">
                    <a:alpha val="9372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Automated Candidate Evaluation Pipeline using Regex, FSTs, Automata, and textX DSL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9909" y="7018348"/>
            <a:ext cx="2376286" cy="126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7" b="true">
                <a:solidFill>
                  <a:srgbClr val="FA90B4">
                    <a:alpha val="93725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Krystal Giraldo</a:t>
            </a:r>
          </a:p>
          <a:p>
            <a:pPr algn="l">
              <a:lnSpc>
                <a:spcPts val="3483"/>
              </a:lnSpc>
            </a:pPr>
            <a:r>
              <a:rPr lang="en-US" sz="2487" b="true">
                <a:solidFill>
                  <a:srgbClr val="FA90B4">
                    <a:alpha val="93725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Valeria Piza</a:t>
            </a:r>
          </a:p>
          <a:p>
            <a:pPr algn="l">
              <a:lnSpc>
                <a:spcPts val="3483"/>
              </a:lnSpc>
            </a:pPr>
            <a:r>
              <a:rPr lang="en-US" sz="2487" b="true">
                <a:solidFill>
                  <a:srgbClr val="FA90B4">
                    <a:alpha val="93725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Miguel Pabón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9138" y="8539309"/>
            <a:ext cx="2453433" cy="382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1"/>
              </a:lnSpc>
            </a:pPr>
            <a:r>
              <a:rPr lang="en-US" sz="2271">
                <a:solidFill>
                  <a:srgbClr val="FFFFFF">
                    <a:alpha val="93725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Universidad Icesi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7519" y="888287"/>
            <a:ext cx="6862969" cy="177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1"/>
              </a:lnSpc>
            </a:pPr>
            <a:r>
              <a:rPr lang="en-US" sz="6385" spc="-127" b="true">
                <a:solidFill>
                  <a:srgbClr val="FFFFFF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 Statement</a:t>
            </a:r>
          </a:p>
          <a:p>
            <a:pPr algn="l">
              <a:lnSpc>
                <a:spcPts val="7021"/>
              </a:lnSpc>
            </a:pPr>
            <a:r>
              <a:rPr lang="en-US" sz="6385" spc="-127" b="true">
                <a:solidFill>
                  <a:srgbClr val="FFFFFF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Motivation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776725"/>
            <a:ext cx="1760986" cy="448211"/>
          </a:xfrm>
          <a:custGeom>
            <a:avLst/>
            <a:gdLst/>
            <a:ahLst/>
            <a:cxnLst/>
            <a:rect r="r" b="b" t="t" l="l"/>
            <a:pathLst>
              <a:path h="448211" w="1760986">
                <a:moveTo>
                  <a:pt x="0" y="0"/>
                </a:moveTo>
                <a:lnTo>
                  <a:pt x="1760986" y="0"/>
                </a:lnTo>
                <a:lnTo>
                  <a:pt x="176098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2119" y="3618722"/>
            <a:ext cx="5402972" cy="92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-57" b="true">
                <a:solidFill>
                  <a:srgbClr val="E896BD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Manual screening is slow</a:t>
            </a:r>
          </a:p>
          <a:p>
            <a:pPr algn="l">
              <a:lnSpc>
                <a:spcPts val="3764"/>
              </a:lnSpc>
            </a:pPr>
            <a:r>
              <a:rPr lang="en-US" sz="2896" spc="-57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Time-consuming and hard to scale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8216" y="4898894"/>
            <a:ext cx="4793257" cy="92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-57" b="true">
                <a:solidFill>
                  <a:srgbClr val="E896BD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Outcomes are inconsistent</a:t>
            </a:r>
          </a:p>
          <a:p>
            <a:pPr algn="l">
              <a:lnSpc>
                <a:spcPts val="3764"/>
              </a:lnSpc>
            </a:pPr>
            <a:r>
              <a:rPr lang="en-US" sz="2896" spc="-57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Prone to human error and bias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7130" y="6173597"/>
            <a:ext cx="5901823" cy="133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0"/>
              </a:lnSpc>
            </a:pPr>
            <a:r>
              <a:rPr lang="en-US" sz="2896" spc="-57" b="true">
                <a:solidFill>
                  <a:srgbClr val="E896BD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Our solution</a:t>
            </a:r>
          </a:p>
          <a:p>
            <a:pPr algn="l">
              <a:lnSpc>
                <a:spcPts val="3620"/>
              </a:lnSpc>
            </a:pPr>
            <a:r>
              <a:rPr lang="en-US" sz="2896" spc="-57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 compilerlike pipeline that processes resumes end-to-end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8099" y="7896001"/>
            <a:ext cx="4804899" cy="138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-57" b="true">
                <a:solidFill>
                  <a:srgbClr val="E896BD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Built for key engineering roles</a:t>
            </a:r>
          </a:p>
          <a:p>
            <a:pPr algn="l">
              <a:lnSpc>
                <a:spcPts val="3764"/>
              </a:lnSpc>
            </a:pPr>
            <a:r>
              <a:rPr lang="en-US" sz="2896" spc="-57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Full Stack, Machine Learning,</a:t>
            </a:r>
          </a:p>
          <a:p>
            <a:pPr algn="l">
              <a:lnSpc>
                <a:spcPts val="3764"/>
              </a:lnSpc>
            </a:pPr>
            <a:r>
              <a:rPr lang="en-US" sz="2896" spc="-57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DevOps, and NLP Engineers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050220" y="2995365"/>
            <a:ext cx="2625072" cy="4722618"/>
          </a:xfrm>
          <a:custGeom>
            <a:avLst/>
            <a:gdLst/>
            <a:ahLst/>
            <a:cxnLst/>
            <a:rect r="r" b="b" t="t" l="l"/>
            <a:pathLst>
              <a:path h="4722618" w="2625072">
                <a:moveTo>
                  <a:pt x="0" y="0"/>
                </a:moveTo>
                <a:lnTo>
                  <a:pt x="2625072" y="0"/>
                </a:lnTo>
                <a:lnTo>
                  <a:pt x="2625072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613698" y="4474492"/>
            <a:ext cx="1237964" cy="42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3032" spc="-60" b="true">
                <a:solidFill>
                  <a:srgbClr val="E896BD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Extract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26078" y="5324465"/>
            <a:ext cx="1607344" cy="11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spc="-87" b="true">
                <a:solidFill>
                  <a:srgbClr val="FFFFFF">
                    <a:alpha val="89804"/>
                  </a:srgbClr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Capture information from resumes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226842" y="513803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45598" y="2995365"/>
            <a:ext cx="2625072" cy="4722618"/>
          </a:xfrm>
          <a:custGeom>
            <a:avLst/>
            <a:gdLst/>
            <a:ahLst/>
            <a:cxnLst/>
            <a:rect r="r" b="b" t="t" l="l"/>
            <a:pathLst>
              <a:path h="4722618" w="2625072">
                <a:moveTo>
                  <a:pt x="0" y="0"/>
                </a:moveTo>
                <a:lnTo>
                  <a:pt x="2625072" y="0"/>
                </a:lnTo>
                <a:lnTo>
                  <a:pt x="2625072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940656" y="4474046"/>
            <a:ext cx="1607105" cy="390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spc="-55" b="true">
                <a:solidFill>
                  <a:srgbClr val="E896BD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Normalize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63883" y="5324465"/>
            <a:ext cx="1607344" cy="11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spc="-87" b="true">
                <a:solidFill>
                  <a:srgbClr val="FFFFFF">
                    <a:alpha val="89804"/>
                  </a:srgbClr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Standardize formats and terminology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622220" y="513803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059732" y="2995365"/>
            <a:ext cx="2406316" cy="4722618"/>
          </a:xfrm>
          <a:custGeom>
            <a:avLst/>
            <a:gdLst/>
            <a:ahLst/>
            <a:cxnLst/>
            <a:rect r="r" b="b" t="t" l="l"/>
            <a:pathLst>
              <a:path h="4722618" w="2406316">
                <a:moveTo>
                  <a:pt x="0" y="0"/>
                </a:moveTo>
                <a:lnTo>
                  <a:pt x="2406316" y="0"/>
                </a:lnTo>
                <a:lnTo>
                  <a:pt x="2406316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460853" y="4474492"/>
            <a:ext cx="1404553" cy="42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3032" spc="-60" b="true">
                <a:solidFill>
                  <a:srgbClr val="E896BD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Validate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74898" y="5324465"/>
            <a:ext cx="1607344" cy="11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spc="-87" b="true">
                <a:solidFill>
                  <a:srgbClr val="FFFFFF">
                    <a:alpha val="89804"/>
                  </a:srgbClr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Check data quality and condistency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017598" y="513803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455110" y="2995365"/>
            <a:ext cx="2625072" cy="4722618"/>
          </a:xfrm>
          <a:custGeom>
            <a:avLst/>
            <a:gdLst/>
            <a:ahLst/>
            <a:cxnLst/>
            <a:rect r="r" b="b" t="t" l="l"/>
            <a:pathLst>
              <a:path h="4722618" w="2625072">
                <a:moveTo>
                  <a:pt x="0" y="0"/>
                </a:moveTo>
                <a:lnTo>
                  <a:pt x="2625072" y="0"/>
                </a:lnTo>
                <a:lnTo>
                  <a:pt x="2625072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5899485" y="4474492"/>
            <a:ext cx="1321840" cy="42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3032" spc="-60" b="true">
                <a:solidFill>
                  <a:srgbClr val="E896BD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Classify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912703" y="5324465"/>
            <a:ext cx="1607344" cy="11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spc="-87" b="true">
                <a:solidFill>
                  <a:srgbClr val="FFFFFF">
                    <a:alpha val="89804"/>
                  </a:srgbClr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Match to roles and rank candidates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3690" y="678873"/>
            <a:ext cx="7924703" cy="940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7124" spc="-212" b="true">
                <a:solidFill>
                  <a:srgbClr val="F1F1F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System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1081" y="1684651"/>
            <a:ext cx="5185660" cy="62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4"/>
              </a:lnSpc>
            </a:pPr>
            <a:r>
              <a:rPr lang="en-US" sz="4724" spc="-140" b="true">
                <a:solidFill>
                  <a:srgbClr val="F19BC2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The 5-Stage Pipeline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2569017"/>
            <a:ext cx="1542230" cy="218640"/>
          </a:xfrm>
          <a:custGeom>
            <a:avLst/>
            <a:gdLst/>
            <a:ahLst/>
            <a:cxnLst/>
            <a:rect r="r" b="b" t="t" l="l"/>
            <a:pathLst>
              <a:path h="218640" w="1542230">
                <a:moveTo>
                  <a:pt x="0" y="0"/>
                </a:moveTo>
                <a:lnTo>
                  <a:pt x="1542230" y="0"/>
                </a:lnTo>
                <a:lnTo>
                  <a:pt x="154223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2198" y="3117821"/>
            <a:ext cx="7073986" cy="90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 spc="-80">
                <a:solidFill>
                  <a:srgbClr val="F1F1F1"/>
                </a:solidFill>
                <a:latin typeface="HK Grotesk"/>
                <a:ea typeface="HK Grotesk"/>
                <a:cs typeface="HK Grotesk"/>
                <a:sym typeface="HK Grotesk"/>
              </a:rPr>
              <a:t>An end-to-end flow that transforms raw resumes into structured insights and results.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4493047"/>
            <a:ext cx="3062584" cy="4088563"/>
          </a:xfrm>
          <a:custGeom>
            <a:avLst/>
            <a:gdLst/>
            <a:ahLst/>
            <a:cxnLst/>
            <a:rect r="r" b="b" t="t" l="l"/>
            <a:pathLst>
              <a:path h="4088563" w="3062584">
                <a:moveTo>
                  <a:pt x="0" y="0"/>
                </a:moveTo>
                <a:lnTo>
                  <a:pt x="3062584" y="0"/>
                </a:lnTo>
                <a:lnTo>
                  <a:pt x="3062584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66149" y="5009894"/>
            <a:ext cx="541325" cy="49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3755" spc="-111" b="true">
                <a:solidFill>
                  <a:srgbClr val="F19BC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4988" y="5648180"/>
            <a:ext cx="1657402" cy="3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spc="-86" b="true">
                <a:solidFill>
                  <a:srgbClr val="F1F1F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Extraction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4086" y="5990729"/>
            <a:ext cx="885962" cy="448211"/>
          </a:xfrm>
          <a:custGeom>
            <a:avLst/>
            <a:gdLst/>
            <a:ahLst/>
            <a:cxnLst/>
            <a:rect r="r" b="b" t="t" l="l"/>
            <a:pathLst>
              <a:path h="448211" w="885962">
                <a:moveTo>
                  <a:pt x="0" y="0"/>
                </a:moveTo>
                <a:lnTo>
                  <a:pt x="885962" y="0"/>
                </a:lnTo>
                <a:lnTo>
                  <a:pt x="88596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48765" y="6500257"/>
            <a:ext cx="2279739" cy="7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-60">
                <a:solidFill>
                  <a:srgbClr val="F1F1F1"/>
                </a:solidFill>
                <a:latin typeface="HK Grotesk"/>
                <a:ea typeface="HK Grotesk"/>
                <a:cs typeface="HK Grotesk"/>
                <a:sym typeface="HK Grotesk"/>
              </a:rPr>
              <a:t>Capture information from resumes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478220" y="5990729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134488" y="4493047"/>
            <a:ext cx="3051646" cy="4088563"/>
          </a:xfrm>
          <a:custGeom>
            <a:avLst/>
            <a:gdLst/>
            <a:ahLst/>
            <a:cxnLst/>
            <a:rect r="r" b="b" t="t" l="l"/>
            <a:pathLst>
              <a:path h="4088563" w="3051646">
                <a:moveTo>
                  <a:pt x="0" y="0"/>
                </a:moveTo>
                <a:lnTo>
                  <a:pt x="3051646" y="0"/>
                </a:lnTo>
                <a:lnTo>
                  <a:pt x="305164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548727" y="5009894"/>
            <a:ext cx="541325" cy="49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3755" spc="-111" b="true">
                <a:solidFill>
                  <a:srgbClr val="F19BC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30032" y="5647466"/>
            <a:ext cx="2410881" cy="3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spc="-86" b="true">
                <a:solidFill>
                  <a:srgbClr val="F1F1F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Normalizeation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353244" y="5990729"/>
            <a:ext cx="875024" cy="448211"/>
          </a:xfrm>
          <a:custGeom>
            <a:avLst/>
            <a:gdLst/>
            <a:ahLst/>
            <a:cxnLst/>
            <a:rect r="r" b="b" t="t" l="l"/>
            <a:pathLst>
              <a:path h="448211" w="875024">
                <a:moveTo>
                  <a:pt x="0" y="0"/>
                </a:moveTo>
                <a:lnTo>
                  <a:pt x="875024" y="0"/>
                </a:lnTo>
                <a:lnTo>
                  <a:pt x="87502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530938" y="6500257"/>
            <a:ext cx="2320290" cy="7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-60">
                <a:solidFill>
                  <a:srgbClr val="F1F1F1"/>
                </a:solidFill>
                <a:latin typeface="HK Grotesk"/>
                <a:ea typeface="HK Grotesk"/>
                <a:cs typeface="HK Grotesk"/>
                <a:sym typeface="HK Grotesk"/>
              </a:rPr>
              <a:t>Standardize formats and terminology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956440" y="5990729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612708" y="4493047"/>
            <a:ext cx="3062584" cy="4088563"/>
          </a:xfrm>
          <a:custGeom>
            <a:avLst/>
            <a:gdLst/>
            <a:ahLst/>
            <a:cxnLst/>
            <a:rect r="r" b="b" t="t" l="l"/>
            <a:pathLst>
              <a:path h="4088563" w="3062584">
                <a:moveTo>
                  <a:pt x="0" y="0"/>
                </a:moveTo>
                <a:lnTo>
                  <a:pt x="3062584" y="0"/>
                </a:lnTo>
                <a:lnTo>
                  <a:pt x="3062584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031305" y="5009894"/>
            <a:ext cx="541325" cy="49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3755" spc="-111" b="true">
                <a:solidFill>
                  <a:srgbClr val="F19BC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15386" y="5648180"/>
            <a:ext cx="2133287" cy="3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spc="-86" b="true">
                <a:solidFill>
                  <a:srgbClr val="F1F1F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Classification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7831464" y="5990729"/>
            <a:ext cx="885962" cy="448211"/>
          </a:xfrm>
          <a:custGeom>
            <a:avLst/>
            <a:gdLst/>
            <a:ahLst/>
            <a:cxnLst/>
            <a:rect r="r" b="b" t="t" l="l"/>
            <a:pathLst>
              <a:path h="448211" w="885962">
                <a:moveTo>
                  <a:pt x="0" y="0"/>
                </a:moveTo>
                <a:lnTo>
                  <a:pt x="885962" y="0"/>
                </a:lnTo>
                <a:lnTo>
                  <a:pt x="88596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013995" y="6500257"/>
            <a:ext cx="2272404" cy="7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-60">
                <a:solidFill>
                  <a:srgbClr val="F1F1F1"/>
                </a:solidFill>
                <a:latin typeface="HK Grotesk"/>
                <a:ea typeface="HK Grotesk"/>
                <a:cs typeface="HK Grotesk"/>
                <a:sym typeface="HK Grotesk"/>
              </a:rPr>
              <a:t>Categorize and rank candidates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445598" y="5990729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101866" y="4493047"/>
            <a:ext cx="3051646" cy="4088563"/>
          </a:xfrm>
          <a:custGeom>
            <a:avLst/>
            <a:gdLst/>
            <a:ahLst/>
            <a:cxnLst/>
            <a:rect r="r" b="b" t="t" l="l"/>
            <a:pathLst>
              <a:path h="4088563" w="3051646">
                <a:moveTo>
                  <a:pt x="0" y="0"/>
                </a:moveTo>
                <a:lnTo>
                  <a:pt x="3051646" y="0"/>
                </a:lnTo>
                <a:lnTo>
                  <a:pt x="305164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487095" y="5009894"/>
            <a:ext cx="541325" cy="49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3755" spc="-111" b="true">
                <a:solidFill>
                  <a:srgbClr val="F19BC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72004" y="5648180"/>
            <a:ext cx="2050364" cy="3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spc="-86" b="true">
                <a:solidFill>
                  <a:srgbClr val="F1F1F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Specification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1320622" y="5990729"/>
            <a:ext cx="875024" cy="448211"/>
          </a:xfrm>
          <a:custGeom>
            <a:avLst/>
            <a:gdLst/>
            <a:ahLst/>
            <a:cxnLst/>
            <a:rect r="r" b="b" t="t" l="l"/>
            <a:pathLst>
              <a:path h="448211" w="875024">
                <a:moveTo>
                  <a:pt x="0" y="0"/>
                </a:moveTo>
                <a:lnTo>
                  <a:pt x="875024" y="0"/>
                </a:lnTo>
                <a:lnTo>
                  <a:pt x="87502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468530" y="6500257"/>
            <a:ext cx="2397777" cy="7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-60">
                <a:solidFill>
                  <a:srgbClr val="F1F1F1"/>
                </a:solidFill>
                <a:latin typeface="HK Grotesk"/>
                <a:ea typeface="HK Grotesk"/>
                <a:cs typeface="HK Grotesk"/>
                <a:sym typeface="HK Grotesk"/>
              </a:rPr>
              <a:t>Map results to formal specifications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923818" y="5990729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580086" y="4493047"/>
            <a:ext cx="3062584" cy="4088563"/>
          </a:xfrm>
          <a:custGeom>
            <a:avLst/>
            <a:gdLst/>
            <a:ahLst/>
            <a:cxnLst/>
            <a:rect r="r" b="b" t="t" l="l"/>
            <a:pathLst>
              <a:path h="4088563" w="3062584">
                <a:moveTo>
                  <a:pt x="0" y="0"/>
                </a:moveTo>
                <a:lnTo>
                  <a:pt x="3062584" y="0"/>
                </a:lnTo>
                <a:lnTo>
                  <a:pt x="3062584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4942884" y="5009894"/>
            <a:ext cx="541325" cy="49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3755" spc="-111" b="true">
                <a:solidFill>
                  <a:srgbClr val="F19BC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927819" y="5648180"/>
            <a:ext cx="2047749" cy="3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spc="-86" b="true">
                <a:solidFill>
                  <a:srgbClr val="F1F1F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Visualization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4798842" y="5990729"/>
            <a:ext cx="885962" cy="448211"/>
          </a:xfrm>
          <a:custGeom>
            <a:avLst/>
            <a:gdLst/>
            <a:ahLst/>
            <a:cxnLst/>
            <a:rect r="r" b="b" t="t" l="l"/>
            <a:pathLst>
              <a:path h="448211" w="885962">
                <a:moveTo>
                  <a:pt x="0" y="0"/>
                </a:moveTo>
                <a:lnTo>
                  <a:pt x="885962" y="0"/>
                </a:lnTo>
                <a:lnTo>
                  <a:pt x="88596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4927391" y="6500257"/>
            <a:ext cx="2090598" cy="7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-60">
                <a:solidFill>
                  <a:srgbClr val="F1F1F1"/>
                </a:solidFill>
                <a:latin typeface="HK Grotesk"/>
                <a:ea typeface="HK Grotesk"/>
                <a:cs typeface="HK Grotesk"/>
                <a:sym typeface="HK Grotesk"/>
              </a:rPr>
              <a:t>Present insights in a clear format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957866" y="8352038"/>
            <a:ext cx="14372268" cy="863627"/>
          </a:xfrm>
          <a:custGeom>
            <a:avLst/>
            <a:gdLst/>
            <a:ahLst/>
            <a:cxnLst/>
            <a:rect r="r" b="b" t="t" l="l"/>
            <a:pathLst>
              <a:path h="863627" w="14372268">
                <a:moveTo>
                  <a:pt x="0" y="0"/>
                </a:moveTo>
                <a:lnTo>
                  <a:pt x="14372268" y="0"/>
                </a:lnTo>
                <a:lnTo>
                  <a:pt x="1437226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5436086" y="8352038"/>
            <a:ext cx="448450" cy="863627"/>
          </a:xfrm>
          <a:custGeom>
            <a:avLst/>
            <a:gdLst/>
            <a:ahLst/>
            <a:cxnLst/>
            <a:rect r="r" b="b" t="t" l="l"/>
            <a:pathLst>
              <a:path h="863627" w="448450">
                <a:moveTo>
                  <a:pt x="0" y="0"/>
                </a:moveTo>
                <a:lnTo>
                  <a:pt x="448450" y="0"/>
                </a:lnTo>
                <a:lnTo>
                  <a:pt x="448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8925244" y="8352038"/>
            <a:ext cx="218756" cy="863627"/>
          </a:xfrm>
          <a:custGeom>
            <a:avLst/>
            <a:gdLst/>
            <a:ahLst/>
            <a:cxnLst/>
            <a:rect r="r" b="b" t="t" l="l"/>
            <a:pathLst>
              <a:path h="863627" w="218756">
                <a:moveTo>
                  <a:pt x="0" y="0"/>
                </a:moveTo>
                <a:lnTo>
                  <a:pt x="218756" y="0"/>
                </a:lnTo>
                <a:lnTo>
                  <a:pt x="21875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2403464" y="8352038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8036719" y="7588897"/>
            <a:ext cx="2411016" cy="38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67">
                <a:solidFill>
                  <a:srgbClr val="F19BC2"/>
                </a:solidFill>
                <a:latin typeface="HK Grotesk"/>
                <a:ea typeface="HK Grotesk"/>
                <a:cs typeface="HK Grotesk"/>
                <a:sym typeface="HK Grotesk"/>
              </a:rPr>
              <a:t>Automata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71562" y="7588897"/>
            <a:ext cx="2411016" cy="38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67">
                <a:solidFill>
                  <a:srgbClr val="F19BC2"/>
                </a:solidFill>
                <a:latin typeface="HK Grotesk"/>
                <a:ea typeface="HK Grotesk"/>
                <a:cs typeface="HK Grotesk"/>
                <a:sym typeface="HK Grotesk"/>
              </a:rPr>
              <a:t>Regex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574" y="3214004"/>
            <a:ext cx="1542230" cy="437279"/>
          </a:xfrm>
          <a:custGeom>
            <a:avLst/>
            <a:gdLst/>
            <a:ahLst/>
            <a:cxnLst/>
            <a:rect r="r" b="b" t="t" l="l"/>
            <a:pathLst>
              <a:path h="437279" w="1542230">
                <a:moveTo>
                  <a:pt x="0" y="0"/>
                </a:moveTo>
                <a:lnTo>
                  <a:pt x="1542230" y="0"/>
                </a:lnTo>
                <a:lnTo>
                  <a:pt x="154223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6574" y="7280704"/>
            <a:ext cx="2625072" cy="2372241"/>
          </a:xfrm>
          <a:custGeom>
            <a:avLst/>
            <a:gdLst/>
            <a:ahLst/>
            <a:cxnLst/>
            <a:rect r="r" b="b" t="t" l="l"/>
            <a:pathLst>
              <a:path h="2372241" w="2625072">
                <a:moveTo>
                  <a:pt x="0" y="0"/>
                </a:moveTo>
                <a:lnTo>
                  <a:pt x="2625072" y="0"/>
                </a:lnTo>
                <a:lnTo>
                  <a:pt x="262507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03196" y="8352038"/>
            <a:ext cx="885962" cy="229572"/>
          </a:xfrm>
          <a:custGeom>
            <a:avLst/>
            <a:gdLst/>
            <a:ahLst/>
            <a:cxnLst/>
            <a:rect r="r" b="b" t="t" l="l"/>
            <a:pathLst>
              <a:path h="229572" w="885962">
                <a:moveTo>
                  <a:pt x="0" y="0"/>
                </a:moveTo>
                <a:lnTo>
                  <a:pt x="885962" y="0"/>
                </a:lnTo>
                <a:lnTo>
                  <a:pt x="88596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40708" y="7280704"/>
            <a:ext cx="2625072" cy="2372241"/>
          </a:xfrm>
          <a:custGeom>
            <a:avLst/>
            <a:gdLst/>
            <a:ahLst/>
            <a:cxnLst/>
            <a:rect r="r" b="b" t="t" l="l"/>
            <a:pathLst>
              <a:path h="2372241" w="2625072">
                <a:moveTo>
                  <a:pt x="0" y="0"/>
                </a:moveTo>
                <a:lnTo>
                  <a:pt x="2625072" y="0"/>
                </a:lnTo>
                <a:lnTo>
                  <a:pt x="262507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36086" y="8352038"/>
            <a:ext cx="885962" cy="229572"/>
          </a:xfrm>
          <a:custGeom>
            <a:avLst/>
            <a:gdLst/>
            <a:ahLst/>
            <a:cxnLst/>
            <a:rect r="r" b="b" t="t" l="l"/>
            <a:pathLst>
              <a:path h="229572" w="885962">
                <a:moveTo>
                  <a:pt x="0" y="0"/>
                </a:moveTo>
                <a:lnTo>
                  <a:pt x="885962" y="0"/>
                </a:lnTo>
                <a:lnTo>
                  <a:pt x="88596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54842" y="7280704"/>
            <a:ext cx="2625072" cy="2372241"/>
          </a:xfrm>
          <a:custGeom>
            <a:avLst/>
            <a:gdLst/>
            <a:ahLst/>
            <a:cxnLst/>
            <a:rect r="r" b="b" t="t" l="l"/>
            <a:pathLst>
              <a:path h="2372241" w="2625072">
                <a:moveTo>
                  <a:pt x="0" y="0"/>
                </a:moveTo>
                <a:lnTo>
                  <a:pt x="2625072" y="0"/>
                </a:lnTo>
                <a:lnTo>
                  <a:pt x="262507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06488" y="634055"/>
            <a:ext cx="8936182" cy="9226597"/>
          </a:xfrm>
          <a:custGeom>
            <a:avLst/>
            <a:gdLst/>
            <a:ahLst/>
            <a:cxnLst/>
            <a:rect r="r" b="b" t="t" l="l"/>
            <a:pathLst>
              <a:path h="9226597" w="8936182">
                <a:moveTo>
                  <a:pt x="0" y="0"/>
                </a:moveTo>
                <a:lnTo>
                  <a:pt x="8936182" y="0"/>
                </a:lnTo>
                <a:lnTo>
                  <a:pt x="8936182" y="9226597"/>
                </a:lnTo>
                <a:lnTo>
                  <a:pt x="0" y="92265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818160"/>
            <a:ext cx="7474713" cy="4072661"/>
          </a:xfrm>
          <a:custGeom>
            <a:avLst/>
            <a:gdLst/>
            <a:ahLst/>
            <a:cxnLst/>
            <a:rect r="r" b="b" t="t" l="l"/>
            <a:pathLst>
              <a:path h="4072661" w="7474713">
                <a:moveTo>
                  <a:pt x="0" y="0"/>
                </a:moveTo>
                <a:lnTo>
                  <a:pt x="7474713" y="0"/>
                </a:lnTo>
                <a:lnTo>
                  <a:pt x="7474713" y="4072662"/>
                </a:lnTo>
                <a:lnTo>
                  <a:pt x="0" y="4072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3641" t="0" r="-17927" b="-15198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011653" y="6207505"/>
            <a:ext cx="8325851" cy="2995654"/>
          </a:xfrm>
          <a:custGeom>
            <a:avLst/>
            <a:gdLst/>
            <a:ahLst/>
            <a:cxnLst/>
            <a:rect r="r" b="b" t="t" l="l"/>
            <a:pathLst>
              <a:path h="2995654" w="8325851">
                <a:moveTo>
                  <a:pt x="0" y="0"/>
                </a:moveTo>
                <a:lnTo>
                  <a:pt x="8325851" y="0"/>
                </a:lnTo>
                <a:lnTo>
                  <a:pt x="8325851" y="2995654"/>
                </a:lnTo>
                <a:lnTo>
                  <a:pt x="0" y="29956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44000" y="5014647"/>
            <a:ext cx="6630133" cy="1068399"/>
          </a:xfrm>
          <a:custGeom>
            <a:avLst/>
            <a:gdLst/>
            <a:ahLst/>
            <a:cxnLst/>
            <a:rect r="r" b="b" t="t" l="l"/>
            <a:pathLst>
              <a:path h="1068399" w="6630133">
                <a:moveTo>
                  <a:pt x="0" y="0"/>
                </a:moveTo>
                <a:lnTo>
                  <a:pt x="6630133" y="0"/>
                </a:lnTo>
                <a:lnTo>
                  <a:pt x="6630133" y="1068399"/>
                </a:lnTo>
                <a:lnTo>
                  <a:pt x="0" y="106839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9044" t="-833488" r="-25105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57170" y="788800"/>
            <a:ext cx="5897836" cy="2325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7"/>
              </a:lnSpc>
            </a:pPr>
            <a:r>
              <a:rPr lang="en-US" sz="5554" spc="-222" b="true">
                <a:solidFill>
                  <a:srgbClr val="FFFFFF">
                    <a:alpha val="89804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Stage 1 &amp; 2 — Extraction &amp; </a:t>
            </a:r>
          </a:p>
          <a:p>
            <a:pPr algn="l">
              <a:lnSpc>
                <a:spcPts val="6107"/>
              </a:lnSpc>
            </a:pPr>
            <a:r>
              <a:rPr lang="en-US" sz="5554" spc="-222" b="true">
                <a:solidFill>
                  <a:srgbClr val="FFFFFF">
                    <a:alpha val="89804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FST Normalization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7237" y="3885693"/>
            <a:ext cx="4891132" cy="84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7" spc="-99" b="true">
                <a:solidFill>
                  <a:srgbClr val="D17BA2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Extract </a:t>
            </a:r>
            <a:r>
              <a:rPr lang="en-US" sz="2487" spc="-99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contacts, skills, experience, and education with regex patterns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5547" y="5000195"/>
            <a:ext cx="4060113" cy="84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7" spc="-99" b="true">
                <a:solidFill>
                  <a:srgbClr val="D17BA2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Normalize </a:t>
            </a:r>
            <a:r>
              <a:rPr lang="en-US" sz="2487" spc="-99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tool variants using</a:t>
            </a:r>
          </a:p>
          <a:p>
            <a:pPr algn="l">
              <a:lnSpc>
                <a:spcPts val="3483"/>
              </a:lnSpc>
            </a:pPr>
            <a:r>
              <a:rPr lang="en-US" sz="2487" spc="-99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finite-state transducers (FST)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1412" y="6159880"/>
            <a:ext cx="7473622" cy="84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7" spc="-99" b="true">
                <a:solidFill>
                  <a:srgbClr val="D17BA2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Translate </a:t>
            </a:r>
            <a:r>
              <a:rPr lang="en-US" sz="2487" spc="-99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variants like ‘react.js’ and ‘k8s’</a:t>
            </a:r>
          </a:p>
          <a:p>
            <a:pPr algn="l">
              <a:lnSpc>
                <a:spcPts val="3483"/>
              </a:lnSpc>
            </a:pPr>
            <a:r>
              <a:rPr lang="en-US" sz="2487" spc="-99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into canonical tokens like ‘REACT’ and ‘KUBERNETES’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2584" y="7891796"/>
            <a:ext cx="1218988" cy="111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179" spc="-87" b="true">
                <a:solidFill>
                  <a:srgbClr val="D17BA2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Stage 1</a:t>
            </a:r>
          </a:p>
          <a:p>
            <a:pPr algn="l">
              <a:lnSpc>
                <a:spcPts val="3052"/>
              </a:lnSpc>
            </a:pPr>
            <a:r>
              <a:rPr lang="en-US" sz="2179" spc="-87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Regex</a:t>
            </a:r>
          </a:p>
          <a:p>
            <a:pPr algn="l">
              <a:lnSpc>
                <a:spcPts val="3052"/>
              </a:lnSpc>
            </a:pPr>
            <a:r>
              <a:rPr lang="en-US" sz="2179" spc="-87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Extraction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26493" y="7891796"/>
            <a:ext cx="1681947" cy="111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179" spc="-87" b="true">
                <a:solidFill>
                  <a:srgbClr val="D17BA2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Stage 2</a:t>
            </a:r>
          </a:p>
          <a:p>
            <a:pPr algn="l">
              <a:lnSpc>
                <a:spcPts val="3052"/>
              </a:lnSpc>
            </a:pPr>
            <a:r>
              <a:rPr lang="en-US" sz="2179" spc="-87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FST Normalization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61977" y="8111773"/>
            <a:ext cx="1381975" cy="70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7" spc="-81" b="true">
                <a:solidFill>
                  <a:srgbClr val="FFFFFF">
                    <a:alpha val="89804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Normalized</a:t>
            </a:r>
          </a:p>
          <a:p>
            <a:pPr algn="l">
              <a:lnSpc>
                <a:spcPts val="2867"/>
              </a:lnSpc>
            </a:pPr>
            <a:r>
              <a:rPr lang="en-US" sz="2047" spc="-81" b="true">
                <a:solidFill>
                  <a:srgbClr val="FFFFFF">
                    <a:alpha val="89804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Tokens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574" y="2776725"/>
            <a:ext cx="1760986" cy="448211"/>
          </a:xfrm>
          <a:custGeom>
            <a:avLst/>
            <a:gdLst/>
            <a:ahLst/>
            <a:cxnLst/>
            <a:rect r="r" b="b" t="t" l="l"/>
            <a:pathLst>
              <a:path h="448211" w="1760986">
                <a:moveTo>
                  <a:pt x="0" y="0"/>
                </a:moveTo>
                <a:lnTo>
                  <a:pt x="1760986" y="0"/>
                </a:lnTo>
                <a:lnTo>
                  <a:pt x="176098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30916" y="700968"/>
            <a:ext cx="7965827" cy="9179811"/>
          </a:xfrm>
          <a:custGeom>
            <a:avLst/>
            <a:gdLst/>
            <a:ahLst/>
            <a:cxnLst/>
            <a:rect r="r" b="b" t="t" l="l"/>
            <a:pathLst>
              <a:path h="9179811" w="7965827">
                <a:moveTo>
                  <a:pt x="0" y="0"/>
                </a:moveTo>
                <a:lnTo>
                  <a:pt x="7965827" y="0"/>
                </a:lnTo>
                <a:lnTo>
                  <a:pt x="7965827" y="9179811"/>
                </a:lnTo>
                <a:lnTo>
                  <a:pt x="0" y="91798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8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26842" y="1071335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77197" y="1031266"/>
            <a:ext cx="4690046" cy="5181665"/>
          </a:xfrm>
          <a:custGeom>
            <a:avLst/>
            <a:gdLst/>
            <a:ahLst/>
            <a:cxnLst/>
            <a:rect r="r" b="b" t="t" l="l"/>
            <a:pathLst>
              <a:path h="5181665" w="4690046">
                <a:moveTo>
                  <a:pt x="0" y="0"/>
                </a:moveTo>
                <a:lnTo>
                  <a:pt x="4690046" y="0"/>
                </a:lnTo>
                <a:lnTo>
                  <a:pt x="4690046" y="5181665"/>
                </a:lnTo>
                <a:lnTo>
                  <a:pt x="0" y="5181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77197" y="6228651"/>
            <a:ext cx="4744102" cy="3029649"/>
          </a:xfrm>
          <a:custGeom>
            <a:avLst/>
            <a:gdLst/>
            <a:ahLst/>
            <a:cxnLst/>
            <a:rect r="r" b="b" t="t" l="l"/>
            <a:pathLst>
              <a:path h="3029649" w="4744102">
                <a:moveTo>
                  <a:pt x="0" y="0"/>
                </a:moveTo>
                <a:lnTo>
                  <a:pt x="4744101" y="0"/>
                </a:lnTo>
                <a:lnTo>
                  <a:pt x="4744101" y="3029649"/>
                </a:lnTo>
                <a:lnTo>
                  <a:pt x="0" y="30296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8953" y="906383"/>
            <a:ext cx="8719513" cy="164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2"/>
              </a:lnSpc>
            </a:pPr>
            <a:r>
              <a:rPr lang="en-US" sz="5484" spc="-163" b="true">
                <a:solidFill>
                  <a:srgbClr val="FFFFFF">
                    <a:alpha val="89804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Stage 3 —</a:t>
            </a:r>
          </a:p>
          <a:p>
            <a:pPr algn="l">
              <a:lnSpc>
                <a:spcPts val="6582"/>
              </a:lnSpc>
            </a:pPr>
            <a:r>
              <a:rPr lang="en-US" sz="5484" spc="-163" b="true">
                <a:solidFill>
                  <a:srgbClr val="FFFFFF">
                    <a:alpha val="89804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Classification via Automata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150" y="3586095"/>
            <a:ext cx="6799809" cy="1472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80" b="true">
                <a:solidFill>
                  <a:srgbClr val="E686B4">
                    <a:alpha val="89804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DFA-based validation of skill sequences</a:t>
            </a:r>
          </a:p>
          <a:p>
            <a:pPr algn="l">
              <a:lnSpc>
                <a:spcPts val="4060"/>
              </a:lnSpc>
            </a:pPr>
            <a:r>
              <a:rPr lang="en-US" sz="2707" spc="-80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Evaluates ordered, canonical skills extracted from resumes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3570" y="5438578"/>
            <a:ext cx="6257828" cy="1472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80" b="true">
                <a:solidFill>
                  <a:srgbClr val="E686B4">
                    <a:alpha val="89804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Enforces track-specific prerequisites</a:t>
            </a:r>
          </a:p>
          <a:p>
            <a:pPr algn="l">
              <a:lnSpc>
                <a:spcPts val="4060"/>
              </a:lnSpc>
            </a:pPr>
            <a:r>
              <a:rPr lang="en-US" sz="2707" spc="-80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Ensures structural requirements for each professional path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7346" y="7336244"/>
            <a:ext cx="5880281" cy="1472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80" b="true">
                <a:solidFill>
                  <a:srgbClr val="E686B4">
                    <a:alpha val="89804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Deterministic and interpretable</a:t>
            </a:r>
          </a:p>
          <a:p>
            <a:pPr algn="l">
              <a:lnSpc>
                <a:spcPts val="4060"/>
              </a:lnSpc>
            </a:pPr>
            <a:r>
              <a:rPr lang="en-US" sz="2707" spc="-80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Clear state transitions and acceptance conditions for reliable classification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330" y="3214004"/>
            <a:ext cx="1750048" cy="437279"/>
          </a:xfrm>
          <a:custGeom>
            <a:avLst/>
            <a:gdLst/>
            <a:ahLst/>
            <a:cxnLst/>
            <a:rect r="r" b="b" t="t" l="l"/>
            <a:pathLst>
              <a:path h="437279" w="1750048">
                <a:moveTo>
                  <a:pt x="0" y="0"/>
                </a:moveTo>
                <a:lnTo>
                  <a:pt x="1750048" y="0"/>
                </a:lnTo>
                <a:lnTo>
                  <a:pt x="1750048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5330" y="3848060"/>
            <a:ext cx="1542230" cy="1727254"/>
          </a:xfrm>
          <a:custGeom>
            <a:avLst/>
            <a:gdLst/>
            <a:ahLst/>
            <a:cxnLst/>
            <a:rect r="r" b="b" t="t" l="l"/>
            <a:pathLst>
              <a:path h="1727254" w="1542230">
                <a:moveTo>
                  <a:pt x="0" y="0"/>
                </a:moveTo>
                <a:lnTo>
                  <a:pt x="1542230" y="0"/>
                </a:lnTo>
                <a:lnTo>
                  <a:pt x="154223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1598" y="5356674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330" y="5990729"/>
            <a:ext cx="1542230" cy="1727254"/>
          </a:xfrm>
          <a:custGeom>
            <a:avLst/>
            <a:gdLst/>
            <a:ahLst/>
            <a:cxnLst/>
            <a:rect r="r" b="b" t="t" l="l"/>
            <a:pathLst>
              <a:path h="1727254" w="1542230">
                <a:moveTo>
                  <a:pt x="0" y="0"/>
                </a:moveTo>
                <a:lnTo>
                  <a:pt x="1542230" y="0"/>
                </a:lnTo>
                <a:lnTo>
                  <a:pt x="154223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1598" y="7499343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5330" y="7925691"/>
            <a:ext cx="1542230" cy="1727254"/>
          </a:xfrm>
          <a:custGeom>
            <a:avLst/>
            <a:gdLst/>
            <a:ahLst/>
            <a:cxnLst/>
            <a:rect r="r" b="b" t="t" l="l"/>
            <a:pathLst>
              <a:path h="1727254" w="1542230">
                <a:moveTo>
                  <a:pt x="0" y="0"/>
                </a:moveTo>
                <a:lnTo>
                  <a:pt x="1542230" y="0"/>
                </a:lnTo>
                <a:lnTo>
                  <a:pt x="154223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612708" y="7707051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925244" y="852695"/>
            <a:ext cx="7842402" cy="9003950"/>
          </a:xfrm>
          <a:custGeom>
            <a:avLst/>
            <a:gdLst/>
            <a:ahLst/>
            <a:cxnLst/>
            <a:rect r="r" b="b" t="t" l="l"/>
            <a:pathLst>
              <a:path h="9003950" w="7842402">
                <a:moveTo>
                  <a:pt x="0" y="0"/>
                </a:moveTo>
                <a:lnTo>
                  <a:pt x="7842402" y="0"/>
                </a:lnTo>
                <a:lnTo>
                  <a:pt x="7842402" y="9003950"/>
                </a:lnTo>
                <a:lnTo>
                  <a:pt x="0" y="9003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57" t="0" r="-1157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1071335"/>
            <a:ext cx="1093780" cy="644987"/>
          </a:xfrm>
          <a:custGeom>
            <a:avLst/>
            <a:gdLst/>
            <a:ahLst/>
            <a:cxnLst/>
            <a:rect r="r" b="b" t="t" l="l"/>
            <a:pathLst>
              <a:path h="644987" w="1093780">
                <a:moveTo>
                  <a:pt x="0" y="0"/>
                </a:moveTo>
                <a:lnTo>
                  <a:pt x="1093780" y="0"/>
                </a:lnTo>
                <a:lnTo>
                  <a:pt x="109378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19208" y="1734800"/>
            <a:ext cx="5491150" cy="5953774"/>
          </a:xfrm>
          <a:custGeom>
            <a:avLst/>
            <a:gdLst/>
            <a:ahLst/>
            <a:cxnLst/>
            <a:rect r="r" b="b" t="t" l="l"/>
            <a:pathLst>
              <a:path h="5953774" w="5491150">
                <a:moveTo>
                  <a:pt x="0" y="0"/>
                </a:moveTo>
                <a:lnTo>
                  <a:pt x="5491149" y="0"/>
                </a:lnTo>
                <a:lnTo>
                  <a:pt x="5491149" y="5953774"/>
                </a:lnTo>
                <a:lnTo>
                  <a:pt x="0" y="59537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069851" y="7707624"/>
            <a:ext cx="4842480" cy="1955982"/>
          </a:xfrm>
          <a:custGeom>
            <a:avLst/>
            <a:gdLst/>
            <a:ahLst/>
            <a:cxnLst/>
            <a:rect r="r" b="b" t="t" l="l"/>
            <a:pathLst>
              <a:path h="1955982" w="4842480">
                <a:moveTo>
                  <a:pt x="0" y="0"/>
                </a:moveTo>
                <a:lnTo>
                  <a:pt x="4842480" y="0"/>
                </a:lnTo>
                <a:lnTo>
                  <a:pt x="4842480" y="1955982"/>
                </a:lnTo>
                <a:lnTo>
                  <a:pt x="0" y="195598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634932" y="5138034"/>
            <a:ext cx="4582938" cy="4514911"/>
          </a:xfrm>
          <a:custGeom>
            <a:avLst/>
            <a:gdLst/>
            <a:ahLst/>
            <a:cxnLst/>
            <a:rect r="r" b="b" t="t" l="l"/>
            <a:pathLst>
              <a:path h="4514911" w="4582938">
                <a:moveTo>
                  <a:pt x="0" y="0"/>
                </a:moveTo>
                <a:lnTo>
                  <a:pt x="4582937" y="0"/>
                </a:lnTo>
                <a:lnTo>
                  <a:pt x="4582937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737977" y="6209369"/>
            <a:ext cx="1104718" cy="655919"/>
          </a:xfrm>
          <a:custGeom>
            <a:avLst/>
            <a:gdLst/>
            <a:ahLst/>
            <a:cxnLst/>
            <a:rect r="r" b="b" t="t" l="l"/>
            <a:pathLst>
              <a:path h="655919" w="1104718">
                <a:moveTo>
                  <a:pt x="0" y="0"/>
                </a:moveTo>
                <a:lnTo>
                  <a:pt x="1104718" y="0"/>
                </a:lnTo>
                <a:lnTo>
                  <a:pt x="1104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82624" y="635288"/>
            <a:ext cx="6746937" cy="2409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8"/>
              </a:lnSpc>
            </a:pPr>
            <a:r>
              <a:rPr lang="en-US" sz="5348" spc="-52" b="true">
                <a:solidFill>
                  <a:srgbClr val="FFFFFF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Stage 4 &amp; 5 —</a:t>
            </a:r>
          </a:p>
          <a:p>
            <a:pPr algn="l">
              <a:lnSpc>
                <a:spcPts val="6418"/>
              </a:lnSpc>
            </a:pPr>
            <a:r>
              <a:rPr lang="en-US" sz="5348" spc="-52" b="true">
                <a:solidFill>
                  <a:srgbClr val="FFFFFF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DSL Specification &amp; HTML Visualization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0103" y="4295072"/>
            <a:ext cx="585328" cy="60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1"/>
              </a:lnSpc>
            </a:pPr>
            <a:r>
              <a:rPr lang="en-US" b="true" sz="4025" spc="-39">
                <a:solidFill>
                  <a:srgbClr val="E189AD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7759" y="6403590"/>
            <a:ext cx="690015" cy="606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9"/>
              </a:lnSpc>
            </a:pPr>
            <a:r>
              <a:rPr lang="en-US" b="true" sz="4073" spc="-39">
                <a:solidFill>
                  <a:srgbClr val="E189AD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4040" y="8451864"/>
            <a:ext cx="697455" cy="606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9"/>
              </a:lnSpc>
            </a:pPr>
            <a:r>
              <a:rPr lang="en-US" b="true" sz="4073" spc="-39">
                <a:solidFill>
                  <a:srgbClr val="E189AD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35630" y="4054099"/>
            <a:ext cx="3611982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spc="-25" b="true">
                <a:solidFill>
                  <a:srgbClr val="E189AD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Formal DSL with textX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71750" y="4544459"/>
            <a:ext cx="4688086" cy="111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254" spc="-22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The resume_dsl.tx grammar enforces structural, lexical, and semantic rules on candidate profiles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36068" y="6283104"/>
            <a:ext cx="3568223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spc="-25" b="true">
                <a:solidFill>
                  <a:srgbClr val="E189AD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Consistent evaluation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71750" y="6772626"/>
            <a:ext cx="4688086" cy="74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254" spc="-22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The DSL ensures uniform validation and reliable scoring across resumes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39735" y="8316317"/>
            <a:ext cx="3201542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spc="-25" b="true">
                <a:solidFill>
                  <a:srgbClr val="E189AD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Clear HTML reports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71750" y="8835962"/>
            <a:ext cx="4688086" cy="74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254" spc="-22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Automated, modern HTML reports highlight pass/fail results and details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30427" y="1252783"/>
            <a:ext cx="1382348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16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resume_dsl.tx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49837" y="5686206"/>
            <a:ext cx="1976563" cy="29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19" b="true">
                <a:solidFill>
                  <a:srgbClr val="FFFFFF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Candidate Report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46285" y="6333821"/>
            <a:ext cx="2331768" cy="42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26" b="true">
                <a:solidFill>
                  <a:srgbClr val="FFFFFF">
                    <a:alpha val="89804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Alex Johnson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931779" y="6418651"/>
            <a:ext cx="570924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b="true" sz="1740" spc="-16">
                <a:solidFill>
                  <a:srgbClr val="FFFFFF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PASS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959692" y="7081328"/>
            <a:ext cx="991139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16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Education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56527" y="8873568"/>
            <a:ext cx="1307662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16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Overall Score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958739" y="7653640"/>
            <a:ext cx="1086385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16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Experience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964402" y="8241013"/>
            <a:ext cx="520129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16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Skills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114432" y="7653640"/>
            <a:ext cx="493236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8"/>
              </a:lnSpc>
            </a:pPr>
            <a:r>
              <a:rPr lang="en-US" sz="1740" spc="-16">
                <a:solidFill>
                  <a:srgbClr val="66B0D5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Pass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114432" y="8241013"/>
            <a:ext cx="493236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8"/>
              </a:lnSpc>
            </a:pPr>
            <a:r>
              <a:rPr lang="en-US" sz="1740" spc="-16">
                <a:solidFill>
                  <a:srgbClr val="66B0D5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Pass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114432" y="7081328"/>
            <a:ext cx="493236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8"/>
              </a:lnSpc>
            </a:pPr>
            <a:r>
              <a:rPr lang="en-US" sz="1740" spc="-16">
                <a:solidFill>
                  <a:srgbClr val="66B0D5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Pass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348571" y="8873568"/>
            <a:ext cx="256732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8"/>
              </a:lnSpc>
            </a:pPr>
            <a:r>
              <a:rPr lang="en-US" b="true" sz="1740" spc="-16">
                <a:solidFill>
                  <a:srgbClr val="E189AD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574" y="2776725"/>
            <a:ext cx="1760986" cy="229572"/>
          </a:xfrm>
          <a:custGeom>
            <a:avLst/>
            <a:gdLst/>
            <a:ahLst/>
            <a:cxnLst/>
            <a:rect r="r" b="b" t="t" l="l"/>
            <a:pathLst>
              <a:path h="229572" w="1760986">
                <a:moveTo>
                  <a:pt x="0" y="0"/>
                </a:moveTo>
                <a:lnTo>
                  <a:pt x="1760986" y="0"/>
                </a:lnTo>
                <a:lnTo>
                  <a:pt x="176098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49291" y="1071335"/>
            <a:ext cx="11893379" cy="8581610"/>
          </a:xfrm>
          <a:custGeom>
            <a:avLst/>
            <a:gdLst/>
            <a:ahLst/>
            <a:cxnLst/>
            <a:rect r="r" b="b" t="t" l="l"/>
            <a:pathLst>
              <a:path h="8581610" w="11893379">
                <a:moveTo>
                  <a:pt x="0" y="0"/>
                </a:moveTo>
                <a:lnTo>
                  <a:pt x="11893379" y="0"/>
                </a:lnTo>
                <a:lnTo>
                  <a:pt x="11893379" y="8581610"/>
                </a:lnTo>
                <a:lnTo>
                  <a:pt x="0" y="85816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811" r="0" b="-681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37926" y="1355373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7" y="0"/>
                </a:lnTo>
                <a:lnTo>
                  <a:pt x="1104717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37926" y="1836011"/>
            <a:ext cx="11027183" cy="2546207"/>
          </a:xfrm>
          <a:custGeom>
            <a:avLst/>
            <a:gdLst/>
            <a:ahLst/>
            <a:cxnLst/>
            <a:rect r="r" b="b" t="t" l="l"/>
            <a:pathLst>
              <a:path h="2546207" w="11027183">
                <a:moveTo>
                  <a:pt x="0" y="0"/>
                </a:moveTo>
                <a:lnTo>
                  <a:pt x="11027183" y="0"/>
                </a:lnTo>
                <a:lnTo>
                  <a:pt x="11027183" y="2546207"/>
                </a:lnTo>
                <a:lnTo>
                  <a:pt x="0" y="25462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37926" y="4653468"/>
            <a:ext cx="11264299" cy="3358413"/>
          </a:xfrm>
          <a:custGeom>
            <a:avLst/>
            <a:gdLst/>
            <a:ahLst/>
            <a:cxnLst/>
            <a:rect r="r" b="b" t="t" l="l"/>
            <a:pathLst>
              <a:path h="3358413" w="11264299">
                <a:moveTo>
                  <a:pt x="0" y="0"/>
                </a:moveTo>
                <a:lnTo>
                  <a:pt x="11264299" y="0"/>
                </a:lnTo>
                <a:lnTo>
                  <a:pt x="11264299" y="3358413"/>
                </a:lnTo>
                <a:lnTo>
                  <a:pt x="0" y="33584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1890" y="770835"/>
            <a:ext cx="5746902" cy="160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8"/>
              </a:lnSpc>
            </a:pPr>
            <a:r>
              <a:rPr lang="en-US" sz="5348" spc="-159" b="true">
                <a:solidFill>
                  <a:srgbClr val="FFFFFF">
                    <a:alpha val="89804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Interactive CLI</a:t>
            </a:r>
          </a:p>
          <a:p>
            <a:pPr algn="l">
              <a:lnSpc>
                <a:spcPts val="6418"/>
              </a:lnSpc>
            </a:pPr>
            <a:r>
              <a:rPr lang="en-US" sz="5348" spc="-159" b="true">
                <a:solidFill>
                  <a:srgbClr val="FFFFFF">
                    <a:alpha val="89804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&amp; User Experience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1599" y="3685669"/>
            <a:ext cx="3776016" cy="132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487" spc="-74" b="true">
                <a:solidFill>
                  <a:srgbClr val="E88FB3">
                    <a:alpha val="89804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Simple, guided interface</a:t>
            </a:r>
          </a:p>
          <a:p>
            <a:pPr algn="l">
              <a:lnSpc>
                <a:spcPts val="3607"/>
              </a:lnSpc>
            </a:pPr>
            <a:r>
              <a:rPr lang="en-US" sz="2487" spc="-74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Clear menu to load, select,</a:t>
            </a:r>
          </a:p>
          <a:p>
            <a:pPr algn="l">
              <a:lnSpc>
                <a:spcPts val="3607"/>
              </a:lnSpc>
            </a:pPr>
            <a:r>
              <a:rPr lang="en-US" sz="2487" spc="-74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and run with confidence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7008" y="5508031"/>
            <a:ext cx="4235102" cy="132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487" spc="-74" b="true">
                <a:solidFill>
                  <a:srgbClr val="E88FB3">
                    <a:alpha val="89804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Flexible input</a:t>
            </a:r>
          </a:p>
          <a:p>
            <a:pPr algn="l">
              <a:lnSpc>
                <a:spcPts val="3607"/>
              </a:lnSpc>
            </a:pPr>
            <a:r>
              <a:rPr lang="en-US" sz="2487" spc="-74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Load your own CVs or</a:t>
            </a:r>
          </a:p>
          <a:p>
            <a:pPr algn="l">
              <a:lnSpc>
                <a:spcPts val="3607"/>
              </a:lnSpc>
            </a:pPr>
            <a:r>
              <a:rPr lang="en-US" sz="2487" spc="-74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choose from sample resumes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7873" y="7315332"/>
            <a:ext cx="4148667" cy="132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487" spc="-74" b="true">
                <a:solidFill>
                  <a:srgbClr val="E88FB3">
                    <a:alpha val="89804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Instant feedback</a:t>
            </a:r>
          </a:p>
          <a:p>
            <a:pPr algn="l">
              <a:lnSpc>
                <a:spcPts val="3607"/>
              </a:lnSpc>
            </a:pPr>
            <a:r>
              <a:rPr lang="en-US" sz="2487" spc="-74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Results summary with status, matches, and ranking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574" y="2776725"/>
            <a:ext cx="1760986" cy="448211"/>
          </a:xfrm>
          <a:custGeom>
            <a:avLst/>
            <a:gdLst/>
            <a:ahLst/>
            <a:cxnLst/>
            <a:rect r="r" b="b" t="t" l="l"/>
            <a:pathLst>
              <a:path h="448211" w="1760986">
                <a:moveTo>
                  <a:pt x="0" y="0"/>
                </a:moveTo>
                <a:lnTo>
                  <a:pt x="1760986" y="0"/>
                </a:lnTo>
                <a:lnTo>
                  <a:pt x="176098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17039" y="2256183"/>
            <a:ext cx="10944387" cy="7852454"/>
          </a:xfrm>
          <a:custGeom>
            <a:avLst/>
            <a:gdLst/>
            <a:ahLst/>
            <a:cxnLst/>
            <a:rect r="r" b="b" t="t" l="l"/>
            <a:pathLst>
              <a:path h="7852454" w="10944387">
                <a:moveTo>
                  <a:pt x="0" y="0"/>
                </a:moveTo>
                <a:lnTo>
                  <a:pt x="10944387" y="0"/>
                </a:lnTo>
                <a:lnTo>
                  <a:pt x="10944387" y="7852454"/>
                </a:lnTo>
                <a:lnTo>
                  <a:pt x="0" y="78524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90131" y="2558085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1" y="0"/>
                </a:lnTo>
                <a:lnTo>
                  <a:pt x="885961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90131" y="8025184"/>
            <a:ext cx="9913572" cy="1233116"/>
          </a:xfrm>
          <a:custGeom>
            <a:avLst/>
            <a:gdLst/>
            <a:ahLst/>
            <a:cxnLst/>
            <a:rect r="r" b="b" t="t" l="l"/>
            <a:pathLst>
              <a:path h="1233116" w="9913572">
                <a:moveTo>
                  <a:pt x="0" y="0"/>
                </a:moveTo>
                <a:lnTo>
                  <a:pt x="9913571" y="0"/>
                </a:lnTo>
                <a:lnTo>
                  <a:pt x="9913571" y="1233116"/>
                </a:lnTo>
                <a:lnTo>
                  <a:pt x="0" y="12331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1983" t="-374828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94535" y="3224936"/>
            <a:ext cx="10189394" cy="1414732"/>
          </a:xfrm>
          <a:custGeom>
            <a:avLst/>
            <a:gdLst/>
            <a:ahLst/>
            <a:cxnLst/>
            <a:rect r="r" b="b" t="t" l="l"/>
            <a:pathLst>
              <a:path h="1414732" w="10189394">
                <a:moveTo>
                  <a:pt x="0" y="0"/>
                </a:moveTo>
                <a:lnTo>
                  <a:pt x="10189394" y="0"/>
                </a:lnTo>
                <a:lnTo>
                  <a:pt x="10189394" y="1414733"/>
                </a:lnTo>
                <a:lnTo>
                  <a:pt x="0" y="14147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841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329280" y="4767378"/>
            <a:ext cx="7509774" cy="2903379"/>
          </a:xfrm>
          <a:custGeom>
            <a:avLst/>
            <a:gdLst/>
            <a:ahLst/>
            <a:cxnLst/>
            <a:rect r="r" b="b" t="t" l="l"/>
            <a:pathLst>
              <a:path h="2903379" w="7509774">
                <a:moveTo>
                  <a:pt x="0" y="0"/>
                </a:moveTo>
                <a:lnTo>
                  <a:pt x="7509774" y="0"/>
                </a:lnTo>
                <a:lnTo>
                  <a:pt x="7509774" y="2903379"/>
                </a:lnTo>
                <a:lnTo>
                  <a:pt x="0" y="29033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8339" y="743778"/>
            <a:ext cx="6780941" cy="1840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7"/>
              </a:lnSpc>
            </a:pPr>
            <a:r>
              <a:rPr lang="en-US" sz="5729" spc="-114" b="true">
                <a:solidFill>
                  <a:srgbClr val="FFFFFF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Rigorous Testing &amp; Quality Assurance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4908" y="3675846"/>
            <a:ext cx="4124056" cy="137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E88AB2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Comprehensive coverage</a:t>
            </a:r>
          </a:p>
          <a:p>
            <a:pPr algn="l">
              <a:lnSpc>
                <a:spcPts val="3730"/>
              </a:lnSpc>
            </a:pPr>
            <a:r>
              <a:rPr lang="en-US" sz="2487" spc="-49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Automated tests across all pipeline layers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7359" y="5694612"/>
            <a:ext cx="3878987" cy="97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54" b="true">
                <a:solidFill>
                  <a:srgbClr val="E88AB2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102 test cases passing</a:t>
            </a:r>
          </a:p>
          <a:p>
            <a:pPr algn="l">
              <a:lnSpc>
                <a:spcPts val="4060"/>
              </a:lnSpc>
            </a:pPr>
            <a:r>
              <a:rPr lang="en-US" sz="2707" spc="-54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100% success rate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6891" y="7335630"/>
            <a:ext cx="3925708" cy="137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E88AB2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Built to high standards</a:t>
            </a:r>
          </a:p>
          <a:p>
            <a:pPr algn="l">
              <a:lnSpc>
                <a:spcPts val="3730"/>
              </a:lnSpc>
            </a:pPr>
            <a:r>
              <a:rPr lang="en-US" sz="2487" spc="-49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Full type hinting and code</a:t>
            </a:r>
          </a:p>
          <a:p>
            <a:pPr algn="l">
              <a:lnSpc>
                <a:spcPts val="3730"/>
              </a:lnSpc>
            </a:pPr>
            <a:r>
              <a:rPr lang="en-US" sz="2487" spc="-49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style enforcement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4969" y="851675"/>
            <a:ext cx="6154704" cy="1901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6"/>
              </a:lnSpc>
            </a:pPr>
            <a:r>
              <a:rPr lang="en-US" sz="6287" spc="-125" b="true">
                <a:solidFill>
                  <a:srgbClr val="FFFFFF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Conclusion &amp; Key Takeaways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3214004"/>
            <a:ext cx="1542230" cy="437279"/>
          </a:xfrm>
          <a:custGeom>
            <a:avLst/>
            <a:gdLst/>
            <a:ahLst/>
            <a:cxnLst/>
            <a:rect r="r" b="b" t="t" l="l"/>
            <a:pathLst>
              <a:path h="437279" w="1542230">
                <a:moveTo>
                  <a:pt x="0" y="0"/>
                </a:moveTo>
                <a:lnTo>
                  <a:pt x="1542230" y="0"/>
                </a:lnTo>
                <a:lnTo>
                  <a:pt x="154223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2467" y="3950061"/>
            <a:ext cx="6404840" cy="92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-57" b="true">
                <a:solidFill>
                  <a:srgbClr val="E487AB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Formal language theory</a:t>
            </a:r>
          </a:p>
          <a:p>
            <a:pPr algn="l">
              <a:lnSpc>
                <a:spcPts val="3764"/>
              </a:lnSpc>
            </a:pPr>
            <a:r>
              <a:rPr lang="en-US" sz="2896" spc="-57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powers practical recruitment tooling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8214" y="5380941"/>
            <a:ext cx="6830159" cy="92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-57" b="true">
                <a:solidFill>
                  <a:srgbClr val="E487AB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Modular architecture</a:t>
            </a:r>
          </a:p>
          <a:p>
            <a:pPr algn="l">
              <a:lnSpc>
                <a:spcPts val="3764"/>
              </a:lnSpc>
            </a:pPr>
            <a:r>
              <a:rPr lang="en-US" sz="2896" spc="-57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built for maintainability and extensibility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2259" y="6811621"/>
            <a:ext cx="4425704" cy="92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-57" b="true">
                <a:solidFill>
                  <a:srgbClr val="E487AB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High test coverage</a:t>
            </a:r>
          </a:p>
          <a:p>
            <a:pPr algn="l">
              <a:lnSpc>
                <a:spcPts val="3764"/>
              </a:lnSpc>
            </a:pPr>
            <a:r>
              <a:rPr lang="en-US" sz="2896" spc="-57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and robust error handling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8723" y="8272522"/>
            <a:ext cx="4779215" cy="92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-57" b="true">
                <a:solidFill>
                  <a:srgbClr val="E487AB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Reliable by design,</a:t>
            </a:r>
          </a:p>
          <a:p>
            <a:pPr algn="l">
              <a:lnSpc>
                <a:spcPts val="3764"/>
              </a:lnSpc>
            </a:pPr>
            <a:r>
              <a:rPr lang="en-US" sz="2896" spc="-57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ready for real-world impact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0094" y="1306418"/>
            <a:ext cx="7613452" cy="307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07"/>
              </a:lnSpc>
            </a:pPr>
            <a:r>
              <a:rPr lang="en-US" sz="17934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Q&amp;A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4493047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6883" y="6383513"/>
            <a:ext cx="7613452" cy="73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2"/>
              </a:lnSpc>
            </a:pPr>
            <a:r>
              <a:rPr lang="en-US" sz="430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Open floor for questions.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622220" y="2569017"/>
            <a:ext cx="4145426" cy="6438940"/>
          </a:xfrm>
          <a:custGeom>
            <a:avLst/>
            <a:gdLst/>
            <a:ahLst/>
            <a:cxnLst/>
            <a:rect r="r" b="b" t="t" l="l"/>
            <a:pathLst>
              <a:path h="6438940" w="4145426">
                <a:moveTo>
                  <a:pt x="0" y="0"/>
                </a:moveTo>
                <a:lnTo>
                  <a:pt x="4145426" y="0"/>
                </a:lnTo>
                <a:lnTo>
                  <a:pt x="4145426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6883" y="5540106"/>
            <a:ext cx="7613452" cy="73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2"/>
              </a:lnSpc>
            </a:pPr>
            <a:r>
              <a:rPr lang="en-US" sz="430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DAHX0g6-avU</dc:identifier>
  <dcterms:modified xsi:type="dcterms:W3CDTF">2011-08-01T06:04:30Z</dcterms:modified>
  <cp:revision>1</cp:revision>
  <dc:title>ResumeLens System</dc:title>
</cp:coreProperties>
</file>